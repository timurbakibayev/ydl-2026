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699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258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9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Классификация: вероятности,</a:t>
            </a:r>
            <a:endParaRPr lang="en-US" sz="3300" dirty="0"/>
          </a:p>
          <a:p>
            <a:pPr marL="0" indent="0">
              <a:lnSpc>
                <a:spcPts val="3900"/>
              </a:lnSpc>
              <a:buNone/>
            </a:pPr>
            <a:r>
              <a:rPr lang="en-US" sz="3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соседи и Байес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Логистическая регрессия · KNN · Наивный Байес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34015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YDL 2026 · Неделя 2 · День 3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на сегодня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32688" y="118872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Логистическая регрессия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как линейная модель учится давать вероятность.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32688" y="160020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классификации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матрица ошибок, точность и полнота, </a:t>
            </a:r>
            <a:r>
              <a:rPr lang="en-US" sz="16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и AUC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32688" y="20116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ближайших соседей (KNN)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классификация по сходству, без обучения.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32688" y="24231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Наивный Байес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вероятностный подход через теорему Байеса.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32688" y="283464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Сквозной принцип: не верь числу на слово, проверь его на train и на тесте.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Логистическая регрессия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вероятности принадлежности классу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регрессии к классификации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32688" y="118872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Линейная регрессия выдаёт число от минус до плюс бесконечности.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32688" y="160020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классификации нужна </a:t>
            </a: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вероятность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диапазоне от 0 до 1.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35608" y="2011680"/>
            <a:ext cx="7296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Идея: посчитать взвешенную сумму признаков </a:t>
            </a:r>
            <a:r>
              <a:rPr lang="en-US" sz="16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θᵀ·x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как в регрессии,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35608" y="2423160"/>
            <a:ext cx="7296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потом пропустить её через функцию, которая сжимает результат в (0, 1).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32688" y="31089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Логит-регрессия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оценивает P(класс) и сравнивает с порогом 0.5.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Сигмоида превращает сумму в вероятность</a:t>
            </a:r>
            <a:endParaRPr lang="en-US" sz="2500" dirty="0"/>
          </a:p>
        </p:txBody>
      </p:sp>
      <p:pic>
        <p:nvPicPr>
          <p:cNvPr id="3" name="Image 0" descr="f_sigmo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40228"/>
            <a:ext cx="4572000" cy="30802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371600"/>
            <a:ext cx="3520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σ(t) растёт плавно от 0 до 1.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t = 0 значение ровно 0.5.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&gt; 0 → класс 1,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&lt; 0 → класс 0.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это та же линейная сумма θᵀ·x.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Математика в двух формулах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97280" y="1325880"/>
            <a:ext cx="6949440" cy="640080"/>
          </a:xfrm>
          <a:prstGeom prst="rect">
            <a:avLst/>
          </a:prstGeom>
          <a:solidFill>
            <a:srgbClr val="F5F7FF"/>
          </a:solidFill>
          <a:ln w="12700">
            <a:solidFill>
              <a:srgbClr val="D9E1F2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σ(θᵀ·x) = 1 / (1 + e^(−θᵀ·x))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6949440" cy="640080"/>
          </a:xfrm>
          <a:prstGeom prst="rect">
            <a:avLst/>
          </a:prstGeom>
          <a:solidFill>
            <a:srgbClr val="F5F7FF"/>
          </a:solidFill>
          <a:ln w="12700">
            <a:solidFill>
              <a:srgbClr val="D9E1F2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прогноз: ŷ = 1, если p ≥ 0.5,   иначе ŷ = 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32688" y="315468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подбираем θ через функцию издержек </a:t>
            </a:r>
            <a:r>
              <a:rPr lang="en-US" sz="16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loss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(логарифмическая потеря).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35608" y="3840480"/>
            <a:ext cx="7296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 штрафует уверенные ошибки: высокая вероятность не тому классу дорого стоит.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32688" y="452628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Хорошая новость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функция выпуклая, градиентный спуск находит глобальный минимум.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Разобранный пример: ирисы</a:t>
            </a:r>
            <a:endParaRPr lang="en-US" sz="2500" dirty="0"/>
          </a:p>
        </p:txBody>
      </p:sp>
      <p:pic>
        <p:nvPicPr>
          <p:cNvPr id="3" name="Image 0" descr="f_logreg_pro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40228"/>
            <a:ext cx="4572000" cy="30802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371600"/>
            <a:ext cx="3520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Признак: ширина лепестка.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Класс: ирис виргинский или нет.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решений при 1.66 см,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P = 50%.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P(вирг. | 1.7 см) = 54.3%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predict(1.7) = 1, predict(1.5) = 0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числа посчитаны в Python на наборе iris, не взяты на глаз.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решений линейна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32688" y="118872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это множество точек, где </a:t>
            </a:r>
            <a:r>
              <a:rPr lang="en-US" sz="16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θᵀ·x = 0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то есть P = 0.5.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435608" y="1600200"/>
            <a:ext cx="7296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двух признаках это прямая, на трёх плоскость, дальше гиперплоскость.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32688" y="228600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Регуляризация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логистическая регрессия штрафуется через l2 (по умолчанию).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35608" y="2971800"/>
            <a:ext cx="7296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Гиперпараметр </a:t>
            </a:r>
            <a:r>
              <a:rPr lang="en-US" sz="16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чем больше C, тем </a:t>
            </a: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слабее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регуляризация (это инверсия α).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классов: Softmax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32688" y="118872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Многопеременная логистическая регрессия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(softmax) поддерживает &gt;2 классов сразу.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435608" y="1874520"/>
            <a:ext cx="7296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класса считается своя сумма очков, затем softmax даёт вероятности,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35608" y="2560320"/>
            <a:ext cx="7296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которые в сумме дают 1. Прогноз это класс с наибольшей вероятностью.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6949440" cy="640080"/>
          </a:xfrm>
          <a:prstGeom prst="rect">
            <a:avLst/>
          </a:prstGeom>
          <a:solidFill>
            <a:srgbClr val="F5F7FF"/>
          </a:solidFill>
          <a:ln w="12700">
            <a:solidFill>
              <a:srgbClr val="D9E1F2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образец [длина 5, ширина 2] → virginica с вероятностью 94.3%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32688" y="342900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 0.0%, versicolor 5.7%, virginica 94.3%, сумма равна 100%.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32688" y="384048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sklearn: </a:t>
            </a:r>
            <a:r>
              <a:rPr lang="en-US" sz="16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LogisticRegression(multi_class='multinomial', solver='lbfgs')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классификации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обманчива, смотрим глубже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мало одной точности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32688" y="118872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(доля верных) врёт при дисбалансе классов.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435608" y="1600200"/>
            <a:ext cx="7296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95% писем не спам, модель «всё не спам» даёт 95% точности и бесполезна.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32688" y="228600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метрики, которые смотрят на </a:t>
            </a:r>
            <a:r>
              <a:rPr lang="en-US" sz="16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ошибок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 не только на их число.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32688" y="26974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Начинаем с матрицы ошибок, из неё выводятся все остальные.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ошибок</a:t>
            </a:r>
            <a:endParaRPr lang="en-US" sz="2500" dirty="0"/>
          </a:p>
        </p:txBody>
      </p:sp>
      <p:pic>
        <p:nvPicPr>
          <p:cNvPr id="3" name="Image 0" descr="f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572" y="1325880"/>
            <a:ext cx="3370936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00600" y="1371600"/>
            <a:ext cx="4069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Строки: истинный класс.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Столбцы: что предсказала модель.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Диагональ это верные ответы.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 диагонали это ошибки.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Здесь модель путает versicolor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virginica, остальное чисто.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и полнота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949440" cy="640080"/>
          </a:xfrm>
          <a:prstGeom prst="rect">
            <a:avLst/>
          </a:prstGeom>
          <a:solidFill>
            <a:srgbClr val="F5F7FF"/>
          </a:solidFill>
          <a:ln w="12700">
            <a:solidFill>
              <a:srgbClr val="D9E1F2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= TP / (TP + FP)        Recall = TP / (TP + FN)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32688" y="219456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(точность): из помеченных классом, сколько верны. Цена ложной тревоги.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32688" y="28803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(полнота): из всех настоящих, сколько найдено. Цена пропуска.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35608" y="3291840"/>
            <a:ext cx="7296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Они в противоречии: усилить одно обычно значит ослабить другое.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32688" y="370332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это их гармоническое среднее, один баланс между точностью и полнотой.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32688" y="438912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Медицина: пропустить больного (recall) обычно хуже ложной тревоги (precision).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ROC-кривая и AUC</a:t>
            </a:r>
            <a:endParaRPr lang="en-US" sz="2500" dirty="0"/>
          </a:p>
        </p:txBody>
      </p:sp>
      <p:pic>
        <p:nvPicPr>
          <p:cNvPr id="3" name="Image 0" descr="f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00" y="1325880"/>
            <a:ext cx="389836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83480" y="1371600"/>
            <a:ext cx="3886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0.5 </a:t>
            </a:r>
            <a:r>
              <a:rPr lang="en-US" sz="14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лучший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показывает все пороги сразу.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Ось Y: доля найденных (TPR).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Ось X: ложные тревоги (FPR).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площадь под кривой.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идеал, 0.5 случайная.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Здесь AUC = 0.991.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Кросс-валидация: честная оценка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32688" y="118872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один train/test разрез это лотерея, повезло или нет с разбиением.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32688" y="187452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кросс-валидация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делим данные на k частей, обучаем k раз,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35608" y="2286000"/>
            <a:ext cx="7296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раз одна часть тест, остальные train. Усредняем k оценок.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32688" y="26974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устойчивее и показывает разброс, а не одно случайное число.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32688" y="310896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sklearn: cross_val_score(model, X, y, cv=5). Это наш инструмент проверки.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ближайших соседей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по сходству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на простом примере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32688" y="118872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Представьте данные о собаках и лошадях: рост и вес.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32688" y="160020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Приходит новое животное с известными ростом и весом. Кто это?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32688" y="20116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KNN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посмотри на </a:t>
            </a:r>
            <a:r>
              <a:rPr lang="en-US" sz="16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ближайших известных животных и проголосуй.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35608" y="2423160"/>
            <a:ext cx="7296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Большинство среди соседей это и есть прогноз класса.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32688" y="283464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Никакой формулы границы, только расстояние и голосование.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целиком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32688" y="118872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435608" y="1600200"/>
            <a:ext cx="7296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 запомнить все данные. Это всё, обучения как такового нет.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32688" y="20116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для новой точки x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35608" y="2423160"/>
            <a:ext cx="7296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посчитать расстояние от x до всех точек данных,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35608" y="2834640"/>
            <a:ext cx="7296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отсортировать точки по возрастанию расстояния,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35608" y="3246120"/>
            <a:ext cx="7296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взять k ближайших и предсказать их класс-большинство.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32688" y="365760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«ленивый» алгоритм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вся работа откладывается на момент прогноза.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Расстояние это сердце метода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949440" cy="640080"/>
          </a:xfrm>
          <a:prstGeom prst="rect">
            <a:avLst/>
          </a:prstGeom>
          <a:solidFill>
            <a:srgbClr val="F5F7FF"/>
          </a:solidFill>
          <a:ln w="12700">
            <a:solidFill>
              <a:srgbClr val="D9E1F2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Евклид: d(a, b) = √( Σ (aᵢ − bᵢ)² 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32688" y="22402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на двух признаках: a = (5, 2), b = (6, 2.5).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35608" y="2651760"/>
            <a:ext cx="7296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√(1² + 0.5²) = √1.25 ≈ </a:t>
            </a:r>
            <a:r>
              <a:rPr lang="en-US" sz="16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1.118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32688" y="306324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Близко по расстоянию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модель считает «похоже по смыслу».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35608" y="3474720"/>
            <a:ext cx="7296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Бывают и другие метрики (манхэттенская), но евклидова это база.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 признаков решает всё</a:t>
            </a:r>
            <a:endParaRPr lang="en-US" sz="2500" dirty="0"/>
          </a:p>
        </p:txBody>
      </p:sp>
      <p:pic>
        <p:nvPicPr>
          <p:cNvPr id="3" name="Image 0" descr="f_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755" y="1325880"/>
            <a:ext cx="695993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X в больших числах подавляет важный признак Y. После StandardScaler оба честно участвуют в расстоянии.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нужно масштабировать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32688" y="118872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Расстояние складывает разности признаков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Признак в тысячах подавит признак в десятых.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435608" y="1874520"/>
            <a:ext cx="7296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 в рублях против возраста в годах: доход перетянет всё расстояние на себя.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32688" y="256032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Лечение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StandardScaler приводит все признаки к одному масштабу.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32688" y="297180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Обязательный шаг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KNN, в отличие от деревьев, где масштаб не важен.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k меняет границу</a:t>
            </a:r>
            <a:endParaRPr lang="en-US" sz="2500" dirty="0"/>
          </a:p>
        </p:txBody>
      </p:sp>
      <p:pic>
        <p:nvPicPr>
          <p:cNvPr id="3" name="Image 0" descr="f_knn_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48" y="1325880"/>
            <a:ext cx="4012984" cy="3108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371600"/>
            <a:ext cx="3520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извилистая,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повторяет каждый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 в данных.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переобучение: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низкое смещение,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дисперсия.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Большое k сглаживает</a:t>
            </a:r>
            <a:endParaRPr lang="en-US" sz="2500" dirty="0"/>
          </a:p>
        </p:txBody>
      </p:sp>
      <p:pic>
        <p:nvPicPr>
          <p:cNvPr id="3" name="Image 0" descr="f_knn_k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48" y="1325880"/>
            <a:ext cx="4012984" cy="3108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371600"/>
            <a:ext cx="3520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15.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плавная,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усредняет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многим соседям.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Слишком большое k: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сольётся в один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крупный класс.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выбрать k: кросс-валидация</a:t>
            </a:r>
            <a:endParaRPr lang="en-US" sz="2500" dirty="0"/>
          </a:p>
        </p:txBody>
      </p:sp>
      <p:pic>
        <p:nvPicPr>
          <p:cNvPr id="3" name="Image 0" descr="f_knn_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61963"/>
            <a:ext cx="4572000" cy="30367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371600"/>
            <a:ext cx="3520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Перебираем k, для каждого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точность CV.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Малое k: переобучение.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Большое k: недообучение.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Лучшее k около 5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этом наборе.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нечётное, чтобы не было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ничьих при голосовании.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KNN: плюсы и минусы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32688" y="118872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Плюсы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435608" y="1600200"/>
            <a:ext cx="7296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простой, обучение тривиально, работает с любым числом классов,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35608" y="2286000"/>
            <a:ext cx="7296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 добавить данные, мало параметров (k и метрика расстояния).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32688" y="26974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Минусы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35608" y="3108960"/>
            <a:ext cx="7296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дорогой прогноз (хуже на больших данных), плохо в высокой размерности,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35608" y="3794760"/>
            <a:ext cx="7296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категориальные признаки работают плохо, чувствителен к масштабу.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Наивный Байес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вероятностная классификация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Вернёмся к вероятностям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32688" y="118872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Логрег учил вероятность напрямую. Наивный Байес идёт от </a:t>
            </a: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теоремы Байеса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32688" y="160020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Вопрос: какова вероятность класса, если мы видим вот эти признаки?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35608" y="2011680"/>
            <a:ext cx="7296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Байес переворачивает задачу: легко оценить P(признаки | класс) по данным,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35608" y="2697480"/>
            <a:ext cx="7296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нам нужно обратное, P(класс | признаки).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Теорема Байеса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97280" y="1417320"/>
            <a:ext cx="6949440" cy="640080"/>
          </a:xfrm>
          <a:prstGeom prst="rect">
            <a:avLst/>
          </a:prstGeom>
          <a:solidFill>
            <a:srgbClr val="F5F7FF"/>
          </a:solidFill>
          <a:ln w="12700">
            <a:solidFill>
              <a:srgbClr val="D9E1F2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P(класс | признаки) ∝ P(класс) · P(признаки | класс)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32688" y="228600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P(класс)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априорная вероятность: насколько класс част вообще.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32688" y="269748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P(признаки | класс)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правдоподобие: насколько такие признаки типичны для класса.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32688" y="33832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Прогноз: класс, у которого произведение этих двух максимально.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32688" y="37947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Знаменатель одинаков для всех классов, поэтому его опускают (значок ∝).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«наивный»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32688" y="118872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Наивное допущение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все признаки независимы внутри класса.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435608" y="1600200"/>
            <a:ext cx="7296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Тогда P(признаки | класс) распадается в произведение по каждому признаку: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6949440" cy="640080"/>
          </a:xfrm>
          <a:prstGeom prst="rect">
            <a:avLst/>
          </a:prstGeom>
          <a:solidFill>
            <a:srgbClr val="F5F7FF"/>
          </a:solidFill>
          <a:ln w="12700">
            <a:solidFill>
              <a:srgbClr val="D9E1F2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P(x₁,…,xₙ | класс) = P(x₁|класс) · P(x₂|класс) · … · P(xₙ|класс)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32688" y="297180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Допущение почти всегда </a:t>
            </a:r>
            <a:r>
              <a:rPr lang="en-US" sz="16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(признаки коррелируют), но на практике работает.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32688" y="365760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Плата за наивность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модель очень быстрая и требует мало данных.</a:t>
            </a:r>
            <a:endParaRPr lang="en-US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оценивается P(признак | класс)</a:t>
            </a:r>
            <a:endParaRPr lang="en-US" sz="2500" dirty="0"/>
          </a:p>
        </p:txBody>
      </p:sp>
      <p:pic>
        <p:nvPicPr>
          <p:cNvPr id="3" name="Image 0" descr="f_nb_likelih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40228"/>
            <a:ext cx="4572000" cy="30802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49240" y="1371600"/>
            <a:ext cx="3520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числовых признаков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берут нормальную кривую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(GaussianNB).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класса своя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и разброс по признаку.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 отделяется чисто,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 и virginica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перекрываются.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наивный Байес силён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32688" y="118872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и спам-фильтры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слова как признаки, классика применения.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32688" y="160020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быстрый, обучается на малых данных, легко масштабируется.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32688" y="201168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места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допущение независимости вредит, если признаки сильно связаны.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35608" y="2697480"/>
            <a:ext cx="7296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Вероятности на выходе бывают слишком уверенными, их не стоит понимать буквально.</a:t>
            </a:r>
            <a:endParaRPr lang="en-US" sz="1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и сравнение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инструмента, одна задача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алгоритма рядом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32688" y="123444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Логистическая регрессия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линейная граница, выдаёт честные вероятности, интерпретируема.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32688" y="192024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гибкая граница по сходству, без обучения, чувствителен к масштабу и k.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32688" y="260604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Наивный Байес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вероятностный, очень быстрый, силён на тексте, наивен к связям.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32688" y="329184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ирисах все три дали около 0.95 точности по кросс-валидации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4008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32688" y="3675888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baseline-набор: с них начинают, потом сравнивают с SVM, деревьями, ансамблями.</a:t>
            </a:r>
            <a:endParaRPr lang="en-US" sz="1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забрать с собой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32688" y="118872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Вероятность важнее ярлыка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логрег и Байес говорят, насколько уверены.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32688" y="160020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 решает для KNN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без StandardScaler метод врёт.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32688" y="20116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важнее accuracy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матрица ошибок, precision, recall, ROC и AUC.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32688" y="24231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Проверяй на кросс-валидации</a:t>
            </a: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 не на одном случайном разрезе.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32688" y="283464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3"/>
              </a:lnSpc>
              <a:buNone/>
            </a:pPr>
            <a:r>
              <a:rPr lang="en-US" sz="1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в командной работе вы пройдёте этот путь руками на своих данных.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1791</Words>
  <Application>Microsoft Macintosh PowerPoint</Application>
  <PresentationFormat>On-screen Show (16:9)</PresentationFormat>
  <Paragraphs>305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Kuanysh S. Abeshev</cp:lastModifiedBy>
  <cp:revision>2</cp:revision>
  <dcterms:created xsi:type="dcterms:W3CDTF">2026-06-24T02:47:01Z</dcterms:created>
  <dcterms:modified xsi:type="dcterms:W3CDTF">2026-06-24T07:21:58Z</dcterms:modified>
</cp:coreProperties>
</file>