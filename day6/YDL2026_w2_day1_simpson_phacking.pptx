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64592" cy="16459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Парадокс Симпсона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060704"/>
            <a:ext cx="80924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430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Связь, которая видна в каждой группе, переворачивается, когда группы смешать в одну кучу.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457200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965960"/>
            <a:ext cx="0" cy="22860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251960"/>
            <a:ext cx="3840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34440" y="3864350"/>
            <a:ext cx="128016" cy="128016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72184" y="3578349"/>
            <a:ext cx="128016" cy="128016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09928" y="3420463"/>
            <a:ext cx="128016" cy="128016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47672" y="3247403"/>
            <a:ext cx="128016" cy="128016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85416" y="3068589"/>
            <a:ext cx="128016" cy="128016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88720" y="3995928"/>
            <a:ext cx="1051560" cy="-804672"/>
          </a:xfrm>
          <a:prstGeom prst="line">
            <a:avLst/>
          </a:prstGeom>
          <a:noFill/>
          <a:ln w="25400">
            <a:solidFill>
              <a:srgbClr val="5B21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77440" y="3101198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15184" y="2931788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52928" y="2761641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90672" y="2526697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28416" y="2420841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31720" y="3310128"/>
            <a:ext cx="1051560" cy="-804672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0440" y="2396029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58184" y="2176833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95928" y="1993268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33672" y="1811521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71416" y="1654151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624328"/>
            <a:ext cx="1051560" cy="-804672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" y="2286000"/>
            <a:ext cx="3246120" cy="1645920"/>
          </a:xfrm>
          <a:prstGeom prst="line">
            <a:avLst/>
          </a:prstGeom>
          <a:noFill/>
          <a:ln w="31750">
            <a:solidFill>
              <a:srgbClr val="DC2626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914400" y="43251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часы в неделю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 rot="16200000">
            <a:off x="45720" y="2971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зарплата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349240" y="169164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F5F3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577840" y="18470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Часы и зарплата у выпускников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577840" y="2212848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всем сразу:  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−0.32</a:t>
            </a:r>
            <a:pPr indent="0" marL="0">
              <a:lnSpc>
                <a:spcPts val="2200"/>
              </a:lnSpc>
              <a:buNone/>
            </a:pP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внутри каждого трека:  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+0.88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5349240" y="3200400"/>
            <a:ext cx="3291840" cy="146304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577840" y="33375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так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577840" y="365760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Виноват скрытый третий фактор, здесь это трек. Аналитики работают мало часов и получают много, мобильщики наоборот. Лесенка между треками и переворачивает общий знак.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48640" y="4773168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Реальный пример: </a:t>
            </a:r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 в Беркли, 1973. По вузу женщин брали реже, а по факультетам наравне или чаще. Скрытый фактор это факультет.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64592" cy="16459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p-hacking: охота на призрак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060704"/>
            <a:ext cx="80924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430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Переберите достаточно гипотез, и что-то всегда выскочит «значимым», даже в чистом шуме.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41605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проверок на случайных данных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8680" y="2331720"/>
            <a:ext cx="676656" cy="384048"/>
          </a:xfrm>
          <a:prstGeom prst="roundRect">
            <a:avLst>
              <a:gd name="adj" fmla="val 9524"/>
            </a:avLst>
          </a:prstGeom>
          <a:solidFill>
            <a:srgbClr val="EEF2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331720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600200" y="2331720"/>
            <a:ext cx="676656" cy="384048"/>
          </a:xfrm>
          <a:prstGeom prst="roundRect">
            <a:avLst>
              <a:gd name="adj" fmla="val 9524"/>
            </a:avLst>
          </a:prstGeom>
          <a:solidFill>
            <a:srgbClr val="EEF2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00200" y="2331720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331720" y="2331720"/>
            <a:ext cx="676656" cy="384048"/>
          </a:xfrm>
          <a:prstGeom prst="roundRect">
            <a:avLst>
              <a:gd name="adj" fmla="val 9524"/>
            </a:avLst>
          </a:prstGeom>
          <a:solidFill>
            <a:srgbClr val="EEF2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31720" y="2331720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063240" y="2331720"/>
            <a:ext cx="676656" cy="384048"/>
          </a:xfrm>
          <a:prstGeom prst="roundRect">
            <a:avLst>
              <a:gd name="adj" fmla="val 9524"/>
            </a:avLst>
          </a:prstGeom>
          <a:solidFill>
            <a:srgbClr val="EEF2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63240" y="2331720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794760" y="2331720"/>
            <a:ext cx="676656" cy="384048"/>
          </a:xfrm>
          <a:prstGeom prst="roundRect">
            <a:avLst>
              <a:gd name="adj" fmla="val 9524"/>
            </a:avLst>
          </a:prstGeom>
          <a:solidFill>
            <a:srgbClr val="EEF2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94760" y="2331720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68680" y="2825496"/>
            <a:ext cx="676656" cy="384048"/>
          </a:xfrm>
          <a:prstGeom prst="roundRect">
            <a:avLst>
              <a:gd name="adj" fmla="val 9524"/>
            </a:avLst>
          </a:prstGeom>
          <a:solidFill>
            <a:srgbClr val="EEF2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2825496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600200" y="2825496"/>
            <a:ext cx="676656" cy="384048"/>
          </a:xfrm>
          <a:prstGeom prst="roundRect">
            <a:avLst>
              <a:gd name="adj" fmla="val 9524"/>
            </a:avLst>
          </a:prstGeom>
          <a:solidFill>
            <a:srgbClr val="EEF2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00200" y="2825496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331720" y="2825496"/>
            <a:ext cx="676656" cy="384048"/>
          </a:xfrm>
          <a:prstGeom prst="roundRect">
            <a:avLst>
              <a:gd name="adj" fmla="val 9524"/>
            </a:avLst>
          </a:prstGeom>
          <a:solidFill>
            <a:srgbClr val="EEF2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31720" y="2825496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063240" y="2825496"/>
            <a:ext cx="676656" cy="384048"/>
          </a:xfrm>
          <a:prstGeom prst="roundRect">
            <a:avLst>
              <a:gd name="adj" fmla="val 9524"/>
            </a:avLst>
          </a:prstGeom>
          <a:solidFill>
            <a:srgbClr val="EEF2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63240" y="2825496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794760" y="2825496"/>
            <a:ext cx="676656" cy="384048"/>
          </a:xfrm>
          <a:prstGeom prst="roundRect">
            <a:avLst>
              <a:gd name="adj" fmla="val 9524"/>
            </a:avLst>
          </a:prstGeom>
          <a:solidFill>
            <a:srgbClr val="EEF2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94760" y="2825496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68680" y="3319272"/>
            <a:ext cx="676656" cy="384048"/>
          </a:xfrm>
          <a:prstGeom prst="roundRect">
            <a:avLst>
              <a:gd name="adj" fmla="val 9524"/>
            </a:avLst>
          </a:prstGeom>
          <a:solidFill>
            <a:srgbClr val="EEF2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3319272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600200" y="3319272"/>
            <a:ext cx="676656" cy="384048"/>
          </a:xfrm>
          <a:prstGeom prst="roundRect">
            <a:avLst>
              <a:gd name="adj" fmla="val 9524"/>
            </a:avLst>
          </a:prstGeom>
          <a:solidFill>
            <a:srgbClr val="EEF2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00200" y="3319272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331720" y="3319272"/>
            <a:ext cx="676656" cy="384048"/>
          </a:xfrm>
          <a:prstGeom prst="roundRect">
            <a:avLst>
              <a:gd name="adj" fmla="val 9524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31720" y="3319272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p=.03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063240" y="3319272"/>
            <a:ext cx="676656" cy="384048"/>
          </a:xfrm>
          <a:prstGeom prst="roundRect">
            <a:avLst>
              <a:gd name="adj" fmla="val 9524"/>
            </a:avLst>
          </a:prstGeom>
          <a:solidFill>
            <a:srgbClr val="EEF2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63240" y="3319272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794760" y="3319272"/>
            <a:ext cx="676656" cy="384048"/>
          </a:xfrm>
          <a:prstGeom prst="roundRect">
            <a:avLst>
              <a:gd name="adj" fmla="val 9524"/>
            </a:avLst>
          </a:prstGeom>
          <a:solidFill>
            <a:srgbClr val="EEF2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94760" y="3319272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68680" y="3813048"/>
            <a:ext cx="676656" cy="384048"/>
          </a:xfrm>
          <a:prstGeom prst="roundRect">
            <a:avLst>
              <a:gd name="adj" fmla="val 9524"/>
            </a:avLst>
          </a:prstGeom>
          <a:solidFill>
            <a:srgbClr val="EEF2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8680" y="3813048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600200" y="3813048"/>
            <a:ext cx="676656" cy="384048"/>
          </a:xfrm>
          <a:prstGeom prst="roundRect">
            <a:avLst>
              <a:gd name="adj" fmla="val 9524"/>
            </a:avLst>
          </a:prstGeom>
          <a:solidFill>
            <a:srgbClr val="EEF2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600200" y="3813048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331720" y="3813048"/>
            <a:ext cx="676656" cy="384048"/>
          </a:xfrm>
          <a:prstGeom prst="roundRect">
            <a:avLst>
              <a:gd name="adj" fmla="val 9524"/>
            </a:avLst>
          </a:prstGeom>
          <a:solidFill>
            <a:srgbClr val="EEF2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31720" y="3813048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063240" y="3813048"/>
            <a:ext cx="676656" cy="384048"/>
          </a:xfrm>
          <a:prstGeom prst="roundRect">
            <a:avLst>
              <a:gd name="adj" fmla="val 9524"/>
            </a:avLst>
          </a:prstGeom>
          <a:solidFill>
            <a:srgbClr val="EEF2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063240" y="3813048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794760" y="3813048"/>
            <a:ext cx="676656" cy="384048"/>
          </a:xfrm>
          <a:prstGeom prst="roundRect">
            <a:avLst>
              <a:gd name="adj" fmla="val 9524"/>
            </a:avLst>
          </a:prstGeom>
          <a:solidFill>
            <a:srgbClr val="EEF2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94760" y="3813048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77240" y="416052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пороге 0.05 примерно 1 из 20 случайностей проходит как «значимая»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937760" y="1737360"/>
            <a:ext cx="3703320" cy="1234440"/>
          </a:xfrm>
          <a:prstGeom prst="roundRect">
            <a:avLst>
              <a:gd name="adj" fmla="val 5926"/>
            </a:avLst>
          </a:prstGeom>
          <a:solidFill>
            <a:srgbClr val="F5F3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166360" y="186537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нашем датасете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5166360" y="219456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случайных колонок, 28 пар. Две прошли порог, лучшая </a:t>
            </a:r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r=0.15, p=0.027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Связи там нет по построению.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4937760" y="3108960"/>
            <a:ext cx="3703320" cy="777240"/>
          </a:xfrm>
          <a:prstGeom prst="roundRect">
            <a:avLst>
              <a:gd name="adj" fmla="val 9412"/>
            </a:avLst>
          </a:prstGeom>
          <a:solidFill>
            <a:srgbClr val="ECFE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166360" y="310896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Связь с ML: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 же самое ядро у переобучения. Подгони под шум, и R² = 0.99 на обучении окажется пустышкой на новых данных.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4937760" y="4023360"/>
            <a:ext cx="3703320" cy="640080"/>
          </a:xfrm>
          <a:prstGeom prst="roundRect">
            <a:avLst>
              <a:gd name="adj" fmla="val 11429"/>
            </a:avLst>
          </a:prstGeom>
          <a:solidFill>
            <a:srgbClr val="FFF7E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5166360" y="40233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Защита: </a:t>
            </a:r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гипотеза, потом данные; проверка на отложенной выборке; поправка на число сравнений.</a:t>
            </a:r>
            <a:endParaRPr lang="en-US" sz="1200" dirty="0"/>
          </a:p>
        </p:txBody>
      </p:sp>
      <p:pic>
        <p:nvPicPr>
          <p:cNvPr id="5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1207008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YDL 2026</dc:creator>
  <cp:lastModifiedBy>YDL 2026</cp:lastModifiedBy>
  <cp:revision>1</cp:revision>
  <dcterms:created xsi:type="dcterms:W3CDTF">2026-06-21T20:21:57Z</dcterms:created>
  <dcterms:modified xsi:type="dcterms:W3CDTF">2026-06-21T20:21:57Z</dcterms:modified>
</cp:coreProperties>
</file>