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 2026 · Неделя 2 · Глава 5 (по Жерону)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Методы опорных векторов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(Support Vector Machines)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и нелинейная классификация, регрессия, ядерный трюк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SVM и зачем он нужен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опорных векторов (SVM)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мощная и универсальная модель.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Умеет: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линейную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нелинейную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классификацию,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регрессию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даже выявление выбросов.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сторона: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наборы данных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малого и среднего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размера.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этой главе: ключевые идеи, как пользоваться (sklearn) и как это устроено внутри.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принцип SVM: искать границу с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максимально широкой полосой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между классами.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Линейная классификация SVM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 с широким зазором</a:t>
            </a:r>
            <a:endParaRPr lang="en-US" sz="2500" dirty="0"/>
          </a:p>
        </p:txBody>
      </p:sp>
      <p:pic>
        <p:nvPicPr>
          <p:cNvPr id="3" name="Image 0" descr="svm_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456" y="1325880"/>
            <a:ext cx="6368527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Слева, границы трёх плохих классификаторов; справа, SVM с самой широкой полосой. Данные: ирисы (sklearn).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Опорные векторы и зазор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строит самую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широкую полосу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(large margin) между классами.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определяется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образцами по краям полосы.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образцы называются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опорными векторами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(support vectors), на графике обведены оранжевым.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точек </a:t>
            </a:r>
            <a:pPr indent="0" marL="0">
              <a:lnSpc>
                <a:spcPts val="1920"/>
              </a:lnSpc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полосы границу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меняет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SVM чувствителен к масштабу признаков, обязательно масштабируйте.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Чувствительность к масштабу признаков</a:t>
            </a:r>
            <a:endParaRPr lang="en-US" sz="2500" dirty="0"/>
          </a:p>
        </p:txBody>
      </p:sp>
      <p:pic>
        <p:nvPicPr>
          <p:cNvPr id="3" name="Image 0" descr="svm_sca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057" y="1325880"/>
            <a:ext cx="6505326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вертикальная ось «крупнее» горизонтальной, полоса почти горизонтальна. Справа после StandardScaler граница адекватна.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Жёсткий и мягкий зазор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Жёсткий зазор vs мягкий зазор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9160" y="1234440"/>
            <a:ext cx="3931920" cy="3200400"/>
          </a:xfrm>
          <a:prstGeom prst="roundRect">
            <a:avLst>
              <a:gd name="adj" fmla="val 1429"/>
            </a:avLst>
          </a:prstGeom>
          <a:solidFill>
            <a:srgbClr val="F5F3FB"/>
          </a:solidFill>
          <a:ln w="12700">
            <a:solidFill>
              <a:srgbClr val="E5D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Жёсткий зазор (hard margin)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Мягкий зазор (soft margin)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801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образцы строго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полосы.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258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2585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1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работает только при линейной сепарабельности.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8986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28986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2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очень чувствителен к выбросам.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801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02352" y="180136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Баланс: широкая полоса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числа нарушений.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24414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02352" y="244144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Управляется гиперпараметром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28529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28529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малое C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шире полоса, больше нарушений; 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C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уже полоса, меньше нарушений.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Гиперпараметр C: компромисс</a:t>
            </a:r>
            <a:endParaRPr lang="en-US" sz="2500" dirty="0"/>
          </a:p>
        </p:txBody>
      </p:sp>
      <p:pic>
        <p:nvPicPr>
          <p:cNvPr id="3" name="Image 0" descr="svm_soft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411" y="1325880"/>
            <a:ext cx="6290617" cy="2788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C=100: меньше нарушений, узкая полоса. C=1: шире полоса, но больше точек на ней (часто лучше обобщается).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Код: линейный SVM в Scikit-Learn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813816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298448"/>
            <a:ext cx="780897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LinearSVC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svm_clf = Pipeline([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("scaler", StandardScaler()),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("linear_svc", LinearSVC(C=1, loss="hinge")),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svm_clf.fit(X, y)
</a:t>
            </a:r>
            <a:pPr indent="0" marL="0">
              <a:lnSpc>
                <a:spcPts val="1914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svm_clf.predict([[5.5, 1.7]])   # -&gt; array([1.])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Тонкости LinearSVC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логистической регрессии, SVM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выдаёт вероятности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классов.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регуляризирует член смещения, поэтому данные нужно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центрировать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(StandardScaler делает это).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Установите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loss="hinge"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явно, это не значение по умолчанию.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Альтернативы: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SVC(kernel="linear")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(медленнее),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SGDClassifier(loss="hinge")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(для огромных и потоковых данных).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переобучается,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уменьшайте C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Нелинейная классификация SVM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Идея: добавить признаки</a:t>
            </a:r>
            <a:endParaRPr lang="en-US" sz="2500" dirty="0"/>
          </a:p>
        </p:txBody>
      </p:sp>
      <p:pic>
        <p:nvPicPr>
          <p:cNvPr id="3" name="Image 0" descr="svm_feature_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675" y="1417320"/>
            <a:ext cx="5700090" cy="265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признак x1 не разделить прямой. Добавляем x2 = x1², и набор становится линейно разделимым.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Полиномиальные признаки на наборе moons</a:t>
            </a:r>
            <a:endParaRPr lang="en-US" sz="2500" dirty="0"/>
          </a:p>
        </p:txBody>
      </p:sp>
      <p:pic>
        <p:nvPicPr>
          <p:cNvPr id="3" name="Image 0" descr="svm_poly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847" y="1417320"/>
            <a:ext cx="4112946" cy="2926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83480" y="15544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76088" y="1554480"/>
            <a:ext cx="3794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LinearSVC.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983480" y="199796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76088" y="199796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Степень 3 порождает кривую границу решений.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83480" y="27020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76088" y="270205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Минус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при высокой степени признаков становится слишком много, модель медленная.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83480" y="34061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76088" y="3406140"/>
            <a:ext cx="3794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этой проблемы,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ядерный трюк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Полиномиальное ядро и ядерный трюк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Ядерный трюк (kernel trick)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тот же результат, как от множества полиномиальных признаков,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07008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9888" y="1783080"/>
            <a:ext cx="7342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их фактического добавления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нет комбинаторного взрыва признаков.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42316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Реализуется классом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SVC(kernel="poly", degree=3, coef0=1, C=5)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0263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80263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coef0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управляет влиянием полиномов высокой степени против низкой.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Переобучение,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снизьте степень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недообучение,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повысьте степень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Полиномиальное ядро: степень 3 против 10</a:t>
            </a:r>
            <a:endParaRPr lang="en-US" sz="2500" dirty="0"/>
          </a:p>
        </p:txBody>
      </p:sp>
      <p:pic>
        <p:nvPicPr>
          <p:cNvPr id="3" name="Image 0" descr="svm_poly_ker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1001" y="1325880"/>
            <a:ext cx="6093439" cy="2788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 ядро 3-й степени, справа 10-й. Высокая степень даёт более извилистую границу (риск переобучения).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Признаки близости и гауссово ядро RBF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близости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измеряет сходство образца с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ориентиром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(landmark).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Гауссова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φ(x, ℓ) = exp(−γ‖x − ℓ‖²), колоколообразная от 0 до 1.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Простейший выбор ориентиров, по каждому образцу набора.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SVC(kernel="rbf", gamma=5, C=0.001)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даёт это «бесплатно».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Проверено в Python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для образца x=−1 при γ=0.3 получаем x2≈0.74 и x3≈0.30.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Гауссово ядро RBF: влияние γ и C</a:t>
            </a:r>
            <a:endParaRPr lang="en-US" sz="2500" dirty="0"/>
          </a:p>
        </p:txBody>
      </p:sp>
      <p:pic>
        <p:nvPicPr>
          <p:cNvPr id="3" name="Image 0" descr="svm_rbf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9127" y="1188720"/>
            <a:ext cx="3925745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γ, узкий колокол, извилистая граница (переобучение). Большое C, меньше регуляризации.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и C как регуляризация · выбор ядра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(gamma)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больше, уже колокол, граница извилистее; меньше, глаже.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действует как регуляризация: переобучение →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уменьшить γ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недообучение → увеличить.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выбора ядра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сначала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линейное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(особенно для больших/разреженных данных).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280263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802636"/>
            <a:ext cx="73426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Затем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гауссово RBF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оно работает хорошо в большинстве случаев.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Прочие ядра (строковые и т.п.), редко, под конкретную структуру данных.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Вычислительная сложность классов SVM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73736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" y="137160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371600"/>
            <a:ext cx="25603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32304" y="13716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Сложность обучения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0" y="1371600"/>
            <a:ext cx="146304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92624" y="137160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Внеш. обучение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371600"/>
            <a:ext cx="11887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37160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89520" y="1371600"/>
            <a:ext cx="91440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44384" y="137160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1938528"/>
            <a:ext cx="173736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1938528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LinearSVC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1938528"/>
            <a:ext cx="256032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32304" y="1938528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 × 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938528"/>
            <a:ext cx="146304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1938528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938528"/>
            <a:ext cx="118872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55664" y="1938528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938528"/>
            <a:ext cx="91440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44384" y="1938528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250545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2505456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SGDClassifier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77440" y="250545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32304" y="2505456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 × n)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2505456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2505456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2505456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55664" y="2505456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89520" y="2505456"/>
            <a:ext cx="914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4384" y="2505456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3072384"/>
            <a:ext cx="173736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" y="3072384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377440" y="3072384"/>
            <a:ext cx="256032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32304" y="3072384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O(m²·n) … O(m³·n)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37760" y="3072384"/>
            <a:ext cx="146304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92624" y="307238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3072384"/>
            <a:ext cx="118872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3072384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589520" y="3072384"/>
            <a:ext cx="914400" cy="566928"/>
          </a:xfrm>
          <a:prstGeom prst="rect">
            <a:avLst/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44384" y="3072384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38679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32688" y="386791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использует libsvm: точен для нелинейных задач, но медленный при сотнях тысяч образцов.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0080" y="450799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32688" y="450799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LinearSVC (liblinear) масштабируется почти линейно.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04672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 SVM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 SVM: инвертируем цель</a:t>
            </a:r>
            <a:endParaRPr lang="en-US" sz="2500" dirty="0"/>
          </a:p>
        </p:txBody>
      </p:sp>
      <p:pic>
        <p:nvPicPr>
          <p:cNvPr id="3" name="Image 0" descr="svm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438" y="1325880"/>
            <a:ext cx="6074565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645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широкой полосы между классами, уместить как можно больше точек внутри полосы шириной ε. ε=1.5 (слева), ε=0.5 (справа).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 SVM: классы и поведение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Ширина полосы задаётся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(epsilon)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модель </a:t>
            </a:r>
            <a:pPr indent="0" marL="0">
              <a:lnSpc>
                <a:spcPts val="1920"/>
              </a:lnSpc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нечувствительна к 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внутри полосы.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Линейная: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LinearSVR(epsilon=1.5)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нелинейная: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SVR(kernel="poly", degree=2, C=100)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42316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LinearSVR масштабируется линейно; SVR медленный на больших наборах.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0263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80263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меньше регуляризации; малое C, больше.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умеет и выявление выбросов (см. документацию sklearn).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Внутренняя кухня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решения, цель обучения, двойственная задача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Функция решения и прогноз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Обозначения: вектор весов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член смещения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(без x0=1).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решения: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wᵀ·x + b = w₁x₁ + … + wₙxₙ + b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019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19019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Прогноз: ŷ = 1, если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wᵀ·x + b ≥ 0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иначе ŷ = 0.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14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28142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решений: множество точек, где функция решения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равна 0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66090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66090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Пунктиры (±1) параллельны границе и образуют зазор вокруг неё.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обучения: широкий зазор = малый ‖w‖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Наклон функции решения равен норме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‖w‖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Делим наклон на 2 → зазор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увеличивается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2 раза. Чем меньше w, тем шире зазор.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Жёсткий зазор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минимизировать ½ wᵀ·w при tⁱ(wᵀ·xⁱ + b) ≥ 1.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542032"/>
            <a:ext cx="7342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Минимизируем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½‖w‖²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не ‖w‖: гладкая производная (именно w), удобнее для оптимизации.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Мягкий зазор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добавляем фиктивные переменные ζⁱ ≥ 0 и слагаемое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C·Σζⁱ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Квадратичное программирование (QP)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жёсткого и мягкого зазора, это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выпуклая квадратичная оптимизация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линейными ограничениями.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вид: минимизировать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pᵀ·H·p + fᵀ·p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A·p ≤ b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решать готовым QP-решателем, задав H, f, A, b под SVM.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чтобы применить ядерный трюк, переходят к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двойственной задаче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Двойственная задача и ядерный трюк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двойственная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задачи для SVM дают одно решение.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224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522476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Двойственная быстрее, когда образцов меньше, чем признаков, и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возможным ядро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K(a, b) считает скалярное произведение φ(a)ᵀ·φ(b)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вычисления φ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Полином 2-й степени: 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C26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K(a,b) = (aᵀ·b)²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равно произведению трансформированных векторов.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82112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теореме Мерсера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если K удовлетворяет условиям, φ существует (для RBF, бесконечномерное).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Распространённые ядра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Линейное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91840" y="141732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K(a, b) = aᵀ·b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67128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6712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Полиномиальное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216712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K(a, b) = (γ·aᵀ·b + r)ᵈ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16936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169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Гауссово RBF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91840" y="291693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K(a, b) = exp(−γ‖a − b‖²)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66744"/>
            <a:ext cx="7863840" cy="603504"/>
          </a:xfrm>
          <a:prstGeom prst="roundRect">
            <a:avLst>
              <a:gd name="adj" fmla="val 7576"/>
            </a:avLst>
          </a:prstGeom>
          <a:solidFill>
            <a:srgbClr val="F3F6FD"/>
          </a:solidFill>
          <a:ln w="12700">
            <a:solidFill>
              <a:srgbClr val="DBE6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66744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Сигмоидальное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66674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K(a, b) = tanh(γ·aᵀ·b + r)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Петлевая функция (hinge loss)</a:t>
            </a:r>
            <a:endParaRPr lang="en-US" sz="2500" dirty="0"/>
          </a:p>
        </p:txBody>
      </p:sp>
      <p:pic>
        <p:nvPicPr>
          <p:cNvPr id="3" name="Image 0" descr="svm_hi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127" y="1417320"/>
            <a:ext cx="4167266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0640" y="146304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13248" y="1463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издержек SGD-варианта SVM использует </a:t>
            </a:r>
            <a:pPr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1 − t)</a:t>
            </a:r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20640" y="216712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13248" y="2167128"/>
            <a:ext cx="3657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Равна 0 при t ≥ 1.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0" y="259232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13248" y="2592324"/>
            <a:ext cx="3657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Производная: −1 при t &lt; 1, 0 при t &gt; 1.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120640" y="301752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13248" y="3017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Недифференцируема при t = 1, но работает субдифференциал (как у лассо).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 по SVM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32688" y="1143000"/>
            <a:ext cx="7799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самая широкая полоса между классами; границу держат опорные векторы.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178308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Масштабируйте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признаки всегда.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6255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16255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компромисс ширина/нарушения; </a:t>
            </a:r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RBF, гладкость границы.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54203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Ядерный трюк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даёт нелинейность без взрыва признаков.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92150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92150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</a:t>
            </a:r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линейное ядро → RBF → перекрёстная проверка для остального.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 для проверки (упражнения)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32688" y="118872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Какая фундаментальная идея лежит в основе SVM?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6819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156819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Что такое опорный вектор?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4767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194767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Почему важно масштабировать входные образцы?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27148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27148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Может ли SVM выдать меру доверия? А вероятность?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706624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2706624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Прямая или двойственная задача для миллионов образцов и сотен признаков?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086100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2688" y="3086100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RBF недообучается: увеличить или уменьшить γ? А C?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465576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3465576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Обучите LinearSVC, SVC и SGDClassifier так, чтобы получить похожие модели.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5052"/>
            <a:ext cx="2743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" y="3845052"/>
            <a:ext cx="779983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Обучите SVM на MNIST (один-против-всех). Какой точности достигли?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2026-06-25T03:05:29Z</dcterms:created>
  <dcterms:modified xsi:type="dcterms:W3CDTF">2026-06-25T03:05:29Z</dcterms:modified>
</cp:coreProperties>
</file>