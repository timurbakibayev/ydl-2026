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143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YDL 2026 · Неделя 2 · Глава 7 (по Жерону)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160020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Ансамблевое обучение</a:t>
            </a:r>
            <a:endParaRPr lang="en-US" sz="38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 случайные леса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32461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Голосование, бэггинг, случайные леса, бустинг и стекинг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Коллективный разум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32688" y="1143000"/>
            <a:ext cx="7799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Коллективный разум (wisdom of the crowd)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агрегированный ответ толпы часто лучше эксперта.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32688" y="1783080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Группа прогнозаторов = </a:t>
            </a:r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ансамбль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приём = </a:t>
            </a:r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ансамблевое обучение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162556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2688" y="2162556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Объединяем прогнозы многих моделей → обычно </a:t>
            </a:r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точнее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лучшей одиночной.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542032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32688" y="2542032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Ансамбли часто выигрывают соревнования по МО (например, Netflix Prize).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2921508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32688" y="2921508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этой главе: голосование, бэггинг/вставка, леса, бустинг, стекинг.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0"/>
            <a:ext cx="8046720" cy="514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Классификаторы с голосованием</a:t>
            </a:r>
            <a:endParaRPr lang="en-US" sz="4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Жёсткое голосование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32688" y="1143000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Обучаем разные классификаторы: лог. регрессия, SVM, случайный лес, kNN…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522476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32688" y="1522476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Жёсткое голосование (hard voting)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берём класс с большинством голосов.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901952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2688" y="1901952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Часто </a:t>
            </a:r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точнее лучшего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классификатора в ансамбле.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281428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32688" y="2281428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Работает, даже если каждый, </a:t>
            </a:r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слабый ученик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(чуть лучше угадывания),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07008" y="2660904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89888" y="2660904"/>
            <a:ext cx="73426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условии, что моделей </a:t>
            </a:r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достаточно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они </a:t>
            </a:r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разнообразны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Закон больших чисел, проверено в Python</a:t>
            </a:r>
            <a:endParaRPr lang="en-US" sz="2500" dirty="0"/>
          </a:p>
        </p:txBody>
      </p:sp>
      <p:pic>
        <p:nvPicPr>
          <p:cNvPr id="3" name="Image 0" descr="ens_ll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545044"/>
            <a:ext cx="4480560" cy="248775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166360" y="1463040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458968" y="146304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Монета с 51% орлов: 10 серий по 10000 бросков.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166360" y="2148840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58968" y="2148840"/>
            <a:ext cx="361188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 сходится к </a:t>
            </a:r>
            <a:pPr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51%</a:t>
            </a:r>
            <a:pPr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166360" y="2574036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58968" y="2574036"/>
            <a:ext cx="361188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P(большинство орлов из 1000) ≈ </a:t>
            </a:r>
            <a:pPr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0.726</a:t>
            </a:r>
            <a:pPr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166360" y="2999232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458968" y="2999232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10000 ≈ </a:t>
            </a:r>
            <a:pPr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0.977</a:t>
            </a:r>
            <a:pPr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(посчитано через binom).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Мягкое голосование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32688" y="1143000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Мягкое голосование (soft voting)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усредняем </a:t>
            </a:r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вероятности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классов.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522476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32688" y="1522476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Часто </a:t>
            </a:r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эффективнее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жёсткого: больший вес уверенным голосам.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901952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2688" y="1901952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Нужны классификаторы с методом 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predict_proba()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281428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32688" y="2281428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SVC задайте 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probability=True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(замедляет обучение).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2660904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32688" y="2660904"/>
            <a:ext cx="7799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Важная оговорка: рост точности возможен, только если модели </a:t>
            </a:r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независимы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 ошибках.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Код: VotingClassifier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8138160" cy="27432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1298448"/>
            <a:ext cx="7808976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82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sklearn.ensemble import RandomForestClassifier, VotingClassifier
</a:t>
            </a:r>
            <a:pPr indent="0" marL="0">
              <a:lnSpc>
                <a:spcPts val="1782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sklearn.linear_model import LogisticRegression
</a:t>
            </a:r>
            <a:pPr indent="0" marL="0">
              <a:lnSpc>
                <a:spcPts val="1782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sklearn.svm import SVC
</a:t>
            </a:r>
            <a:pPr indent="0" marL="0">
              <a:lnSpc>
                <a:spcPts val="1782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ts val="1782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voting_clf = VotingClassifier(
</a:t>
            </a:r>
            <a:pPr indent="0" marL="0">
              <a:lnSpc>
                <a:spcPts val="1782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estimators=[('lr', LogisticRegression()),
</a:t>
            </a:r>
            <a:pPr indent="0" marL="0">
              <a:lnSpc>
                <a:spcPts val="1782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('rf', RandomForestClassifier()),
</a:t>
            </a:r>
            <a:pPr indent="0" marL="0">
              <a:lnSpc>
                <a:spcPts val="1782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('svc', SVC())],
</a:t>
            </a:r>
            <a:pPr indent="0" marL="0">
              <a:lnSpc>
                <a:spcPts val="1782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voting='hard')
</a:t>
            </a:r>
            <a:pPr indent="0" marL="0">
              <a:lnSpc>
                <a:spcPts val="1782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voting_clf.fit(X_train, y_train)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0"/>
            <a:ext cx="8046720" cy="514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Бэггинг и вставка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Бэггинг vs вставка (pasting)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1234440"/>
            <a:ext cx="3931920" cy="3200400"/>
          </a:xfrm>
          <a:prstGeom prst="roundRect">
            <a:avLst>
              <a:gd name="adj" fmla="val 1429"/>
            </a:avLst>
          </a:prstGeom>
          <a:solidFill>
            <a:srgbClr val="F3F6FD"/>
          </a:solidFill>
          <a:ln w="12700">
            <a:solidFill>
              <a:srgbClr val="DBE6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09160" y="1234440"/>
            <a:ext cx="3931920" cy="3200400"/>
          </a:xfrm>
          <a:prstGeom prst="roundRect">
            <a:avLst>
              <a:gd name="adj" fmla="val 1429"/>
            </a:avLst>
          </a:prstGeom>
          <a:solidFill>
            <a:srgbClr val="F5F3FB"/>
          </a:solidFill>
          <a:ln w="12700">
            <a:solidFill>
              <a:srgbClr val="E5DE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533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Бэггинг (bagging)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846320" y="13533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Вставка (pasting)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58368" y="180136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96112" y="1801368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Выборка </a:t>
            </a:r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заменой</a:t>
            </a:r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(bootstrap).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225856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96112" y="2258568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прогнозатор может видеть образец несколько раз.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" y="289864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96112" y="2898648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Чуть больше смещение, но меньше дисперсия → </a:t>
            </a:r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обычно лучше</a:t>
            </a:r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64608" y="180136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102352" y="1801368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Выборка </a:t>
            </a:r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замены</a:t>
            </a:r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64608" y="225856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102352" y="2258568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Тот же алгоритм на разных случайных поднаборах.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64608" y="289864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102352" y="2898648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Агрегирование: </a:t>
            </a:r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мода</a:t>
            </a:r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(классиф.) или среднее (регрессия).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Одно дерево vs бэггинг из 500 деревьев</a:t>
            </a:r>
            <a:endParaRPr lang="en-US" sz="2500" dirty="0"/>
          </a:p>
        </p:txBody>
      </p:sp>
      <p:pic>
        <p:nvPicPr>
          <p:cNvPr id="3" name="Image 0" descr="ens_bagg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2505" y="1325880"/>
            <a:ext cx="6030430" cy="2743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464515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Бэггинг даёт сопоставимое смещение, но меньшую дисперсию: граница глаже. Набор moons (sklearn).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Код: BaggingClassifier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1234440"/>
            <a:ext cx="8138160" cy="2249424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1344168"/>
            <a:ext cx="7808976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48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sklearn.ensemble import BaggingClassifier
</a:t>
            </a:r>
            <a:pPr indent="0" marL="0">
              <a:lnSpc>
                <a:spcPts val="1848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sklearn.tree import DecisionTreeClassifier
</a:t>
            </a:r>
            <a:pPr indent="0" marL="0">
              <a:lnSpc>
                <a:spcPts val="1848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ts val="1848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bag_clf = BaggingClassifier(
</a:t>
            </a:r>
            <a:pPr indent="0" marL="0">
              <a:lnSpc>
                <a:spcPts val="1848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DecisionTreeClassifier(), n_estimators=500,
</a:t>
            </a:r>
            <a:pPr indent="0" marL="0">
              <a:lnSpc>
                <a:spcPts val="1848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max_samples=100, bootstrap=True, n_jobs=-1)
</a:t>
            </a:r>
            <a:pPr indent="0" marL="0">
              <a:lnSpc>
                <a:spcPts val="1848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bag_clf.fit(X_train, y_train)
</a:t>
            </a:r>
            <a:pPr indent="0" marL="0">
              <a:lnSpc>
                <a:spcPts val="1848"/>
              </a:lnSpc>
              <a:buNone/>
            </a:pPr>
            <a:r>
              <a:rPr lang="en-US" sz="140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bootstrap=False -&gt; вставка (pasting)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Оценка на неиспользуемых образцах (OOB)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32688" y="1143000"/>
            <a:ext cx="7799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бэггинге каждый прогнозатор видит ≈ </a:t>
            </a:r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образцов (предел 1 − 1/e ≈ </a:t>
            </a:r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0.632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32688" y="1783080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Остальные ≈ 37%, это </a:t>
            </a:r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неиспользуемые (out-of-bag, oob)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образцы.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162556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2688" y="2162556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Можно оценивать модель на oob </a:t>
            </a:r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отдельного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проверочного набора.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542032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32688" y="2542032"/>
            <a:ext cx="7799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Задайте 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oob_score=True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В нашем прогоне </a:t>
            </a:r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oob = 0.896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тест = </a:t>
            </a:r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сошлось.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182112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32688" y="3182112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oob_decision_function_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даёт вероятности классов для каждого образца.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Случайные участки и подпространства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32688" y="1143000"/>
            <a:ext cx="7799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BaggingClassifier умеет и </a:t>
            </a:r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выборку признаков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max_features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bootstrap_features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32688" y="1783080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Случайные участки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(random patches): выборка и образцов, и признаков.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162556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2688" y="2162556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Случайные подпространства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все образцы, но выборка признаков.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542032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32688" y="2542032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Полезно для данных </a:t>
            </a:r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высокой размерности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(например, изображения).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2921508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32688" y="2921508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Больше разнообразия → больше смещение в обмен на меньшую дисперсию.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0"/>
            <a:ext cx="8046720" cy="514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Случайные леса</a:t>
            </a:r>
            <a:endParaRPr lang="en-US" sz="4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32688" y="1143000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Случайный лес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ансамбль деревьев, обученных бэггингом.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522476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32688" y="1522476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Удобный класс 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RandomForestClassifier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(и RandomForestRegressor).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901952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2688" y="1901952"/>
            <a:ext cx="7799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Доп. случайность: при расщеплении узла ищет лучший признак в </a:t>
            </a:r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случайном поднаборе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признаков.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542032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32688" y="2542032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Больше разнообразия деревьев → меньше дисперсия, обычно лучше модель.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2921508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32688" y="2921508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Имеет гиперпараметры и дерева (max_depth…), и ансамбля (n_estimators…).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Код: RandomForestClassifier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1280160"/>
            <a:ext cx="8138160" cy="175564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1389888"/>
            <a:ext cx="7808976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14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sklearn.ensemble import RandomForestClassifier
</a:t>
            </a:r>
            <a:pPr indent="0" marL="0">
              <a:lnSpc>
                <a:spcPts val="1914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ts val="1914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rnd_clf = RandomForestClassifier(
</a:t>
            </a:r>
            <a:pPr indent="0" marL="0">
              <a:lnSpc>
                <a:spcPts val="1914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n_estimators=500, max_leaf_nodes=16, n_jobs=-1)
</a:t>
            </a:r>
            <a:pPr indent="0" marL="0">
              <a:lnSpc>
                <a:spcPts val="1914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rnd_clf.fit(X_train, y_train)
</a:t>
            </a:r>
            <a:pPr indent="0" marL="0">
              <a:lnSpc>
                <a:spcPts val="1914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y_pred = rnd_clf.predict(X_test)</a:t>
            </a:r>
            <a:endParaRPr lang="en-US" sz="14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Особо случайные деревья (Extra-Trees)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32688" y="1143000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Extra-Trees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используют </a:t>
            </a:r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случайные пороги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вместо поиска наилучшего.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522476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32688" y="1522476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Ещё больше разнообразия: выше смещение, ниже дисперсия.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901952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2688" y="1901952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Обучаются </a:t>
            </a:r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намного быстрее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не ищут лучший порог в каждом узле.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281428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32688" y="2281428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Классы 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ExtraTreesClassifier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ExtraTreesRegressor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2660904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32688" y="2660904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лучше, RF или Extra-Trees? Только перекрёстная проверка покажет.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Значимость признаков (iris), проверено</a:t>
            </a:r>
            <a:endParaRPr lang="en-US" sz="2500" dirty="0"/>
          </a:p>
        </p:txBody>
      </p:sp>
      <p:pic>
        <p:nvPicPr>
          <p:cNvPr id="3" name="Image 0" descr="ens_import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465729"/>
            <a:ext cx="4389120" cy="264638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74920" y="1554480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367528" y="1554480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Лес сам измеряет, насколько признак снижает загрязнённость.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074920" y="2258568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367528" y="2258568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ирисах: длина лепестка </a:t>
            </a:r>
            <a:pPr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44%</a:t>
            </a:r>
            <a:pPr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ширина </a:t>
            </a:r>
            <a:pPr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</a:t>
            </a:r>
            <a:pPr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074920" y="2962656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367528" y="2962656"/>
            <a:ext cx="370332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Чашелистик: </a:t>
            </a:r>
            <a:pPr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</a:t>
            </a:r>
            <a:pPr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</a:t>
            </a:r>
            <a:pPr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</a:t>
            </a:r>
            <a:pPr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74920" y="3406140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367528" y="3406140"/>
            <a:ext cx="370332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Совпало с книгой, числа честные.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Значимость пикселей (digits 8×8)</a:t>
            </a:r>
            <a:endParaRPr lang="en-US" sz="2500" dirty="0"/>
          </a:p>
        </p:txBody>
      </p:sp>
      <p:pic>
        <p:nvPicPr>
          <p:cNvPr id="3" name="Image 0" descr="ens_pixe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88634" y="1234440"/>
            <a:ext cx="3766733" cy="3108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45720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Случайный лес на реальном наборе digits: важные пиксели в центре изображения, по краям, почти нули.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0"/>
            <a:ext cx="8046720" cy="514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Бустинг</a:t>
            </a:r>
            <a:endParaRPr lang="en-US" sz="4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Бустинг: последовательное исправление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32688" y="1143000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Бустинг (boosting)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комбинирует слабых учеников в сильного.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522476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32688" y="1522476"/>
            <a:ext cx="7799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Прогнозаторы обучаются </a:t>
            </a:r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последовательно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каждый исправляет предшественника.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162556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2688" y="2162556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Самые популярные: </a:t>
            </a:r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AdaBoost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</a:t>
            </a:r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градиентный бустинг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542032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32688" y="2542032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Минус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плохо распараллеливается (каждый ждёт предыдущего).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2921508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32688" y="2921508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Масштабируется хуже бэггинга, зато часто очень точен.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AdaBoost: последовательные границы</a:t>
            </a:r>
            <a:endParaRPr lang="en-US" sz="2500" dirty="0"/>
          </a:p>
        </p:txBody>
      </p:sp>
      <p:pic>
        <p:nvPicPr>
          <p:cNvPr id="3" name="Image 0" descr="ens_adaboo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0947" y="1325880"/>
            <a:ext cx="5993546" cy="2743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464515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RBF-SVM подряд. Ошибочные образцы получают больший вес. Справа скорость обучения вдвое меньше. Набор moons.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AdaBoost: как это работает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32688" y="1143000"/>
            <a:ext cx="7799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Веса образцов </a:t>
            </a:r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повышаются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там, где была ошибка; следующий фокусируется на них.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32688" y="1783080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 прогнозатора αⱼ = η·log((1 − rⱼ)/rⱼ): точнее → больше вес.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162556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2688" y="2162556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 использует </a:t>
            </a:r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SAMME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(и </a:t>
            </a:r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SAMME.R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по вероятностям).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542032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32688" y="2542032"/>
            <a:ext cx="7799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AdaBoostClassifier(DecisionTreeClassifier(max_depth=1), n_estimators=200)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182112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32688" y="3182112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Переобучается → </a:t>
            </a:r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уменьшите число оценщиков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или регуляризируйте базовый.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Градиентный бустинг (GBRT)</a:t>
            </a:r>
            <a:endParaRPr lang="en-US" sz="2500" dirty="0"/>
          </a:p>
        </p:txBody>
      </p:sp>
      <p:pic>
        <p:nvPicPr>
          <p:cNvPr id="3" name="Image 0" descr="ens_gb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0478" y="1280160"/>
            <a:ext cx="3471123" cy="3108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74920" y="1371600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367528" y="1371600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Каждое новое дерево учится на </a:t>
            </a:r>
            <a:pPr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остаточных ошибках</a:t>
            </a:r>
            <a:pPr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предыдущего.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074920" y="2075688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367528" y="2075688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 ансамбля = </a:t>
            </a:r>
            <a:pPr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сумма</a:t>
            </a:r>
            <a:pPr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прогнозов деревьев.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074920" y="2779776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367528" y="2779776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каждым деревом ансамбль становится лучше.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74920" y="3483864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367528" y="3483864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Слева, деревья и остатки, справа, ансамбль.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Код: GradientBoostingRegressor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1280160"/>
            <a:ext cx="8138160" cy="175564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1389888"/>
            <a:ext cx="7808976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48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sklearn.ensemble import GradientBoostingRegressor
</a:t>
            </a:r>
            <a:pPr indent="0" marL="0">
              <a:lnSpc>
                <a:spcPts val="1848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ts val="1848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gbrt = GradientBoostingRegressor(
</a:t>
            </a:r>
            <a:pPr indent="0" marL="0">
              <a:lnSpc>
                <a:spcPts val="1848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max_depth=2, n_estimators=3, learning_rate=1.0)
</a:t>
            </a:r>
            <a:pPr indent="0" marL="0">
              <a:lnSpc>
                <a:spcPts val="1848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gbrt.fit(X, y)
</a:t>
            </a:r>
            <a:pPr indent="0" marL="0">
              <a:lnSpc>
                <a:spcPts val="1848"/>
              </a:lnSpc>
              <a:buNone/>
            </a:pPr>
            <a:r>
              <a:rPr lang="en-US" sz="140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learning_rate=0.1 -&gt; сжатие (shrinkage), нужно больше деревьев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GBRT: регуляризация и раннее прекращение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32688" y="1143000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learning_rate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вклад каждого дерева. Малое значение = </a:t>
            </a:r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сжатие (shrinkage)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522476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32688" y="1522476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Мало деревьев → недообучение; слишком много → переобучение.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901952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2688" y="1901952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Раннее прекращение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ищем оптимум через 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staged_predict()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281428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32688" y="2281428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Можно останавливать обучение «на лету» с 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warm_start=True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2660904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32688" y="2660904"/>
            <a:ext cx="7799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subsample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даёт </a:t>
            </a:r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стохастический градиентный бустинг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быстрее, ниже дисперсия.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0"/>
            <a:ext cx="8046720" cy="514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Стекинг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Стекинг (stacked generalization)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32688" y="1143000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Вместо простого голосования, </a:t>
            </a:r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обучаем модель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агрегировать прогнозы.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522476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32688" y="1522476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Финальная модель: </a:t>
            </a:r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смеситель (blender)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или мета-ученик.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901952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2688" y="1901952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Обучающий набор делят на поднаборы: первый, для базовых моделей,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07008" y="2281428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89888" y="2281428"/>
            <a:ext cx="7342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второй (удержанный) даёт «чистые» прогнозы → новый набор для смесителя.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2921508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32688" y="2921508"/>
            <a:ext cx="7799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Можно строить </a:t>
            </a:r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несколько уровней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смесителей. sklearn: StackingClassifier/Regressor.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Итоги по ансамблям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32688" y="1143000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Голосование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объединяет разные модели (hard/soft).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522476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32688" y="1522476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Бэггинг/леса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снижают дисперсию усреднением; OOB оценивает бесплатно.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901952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2688" y="1901952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Бустинг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последовательно исправляет ошибки (AdaBoost, GBRT).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281428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32688" y="2281428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Стекинг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учит модель объединять прогнозы.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2660904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32688" y="2660904"/>
            <a:ext cx="7799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разнообразие моделей и независимость ошибок, ключ к сильному ансамблю.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Вопросы для проверки (упражнения)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32688" y="1188720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Пять моделей по 95% на тех же данных, можно ли их объединить и как?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68196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32688" y="1568196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Разница между жёстким и мягким голосованием?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947672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32688" y="1947672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Какие ансамбли можно распараллелить по серверам, а какие нет?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327148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32688" y="2327148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В чём преимущество oob-оценки?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2706624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32688" y="2706624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Чем Extra-Trees случайнее леса? Быстрее или медленнее?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3086100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32688" y="3086100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AdaBoost недообучается, что подстраивать?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3465576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32688" y="3465576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GBRT переобучается, увеличить или уменьшить скорость обучения?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3845052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32688" y="3845052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Соберите ансамбль на MNIST и сравните со стекингом.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2026-06-25T03:05:29Z</dcterms:created>
  <dcterms:modified xsi:type="dcterms:W3CDTF">2026-06-25T03:05:29Z</dcterms:modified>
</cp:coreProperties>
</file>